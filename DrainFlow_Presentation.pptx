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57" r:id="rId4"/>
    <p:sldId id="259" r:id="rId5"/>
    <p:sldId id="261" r:id="rId6"/>
    <p:sldId id="260" r:id="rId7"/>
    <p:sldId id="29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1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5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State project name, group number and that this is the final presentation.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quickly - they map one-to-one onto the calculation slides later.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four failure modes early - the design checks later map onto exactly these.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phases left to right. Emphasise that bisection is the computational core.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 about the free surface matters - it is the reason Q peaks before the pipe is full.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derive anything here - just name each equation and its role.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73DD-D732-506C-D45C-56DCDDBA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0483B-B9AE-23A5-A96D-88D33016C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1E8AC-2068-4A21-7106-68D68F46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derive anything here - just name each equation and its role. ~35 seconds.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19029-971E-C385-8D1A-A400F5617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78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assumptions actually coded, not a generic textbook list.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source code shown, per the instructions - only the call relationships.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core engineering functions. Each is independently testable.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bisect_root is written as a general-purpose solver, not tied to this problem.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MATLAB here. Point at each region of the window as you name it.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 of 4. This is the input set every hand calculation that follows is based on.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2. Larger catchment, same pipe. Point out that the drawing goes solid red at y/D = 100 %.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3. Steeper slope. Q rises as the square root of S, but so does velocity.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4. The important lesson: enlarging a pipe to fix capacity can create this problem. The criteria fight each other.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sample. Say it matches the default state the program opens with.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Kirpich. Longer path increases travel time, steeper slope reduces it.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WHY log-log: IDF curves are power laws, straight on log axes. Linear interpolation cuts the corner.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the classic question: where does 360 come from? Derive it in one line.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slide. The R = D/4 result falls straight out of A/P.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Accumulate the product left to right so each step can be checked against the report.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is tested first because it governs. 24 % spare here.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justification for a numerical method - not 'we were told to use one'.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Bisection chosen for guaranteed convergence - it runs 20 times a second inside the animation with nobody watching. ~55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two numbers the visual focus.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area the velocity must be divided by - NOT the full-pipe area.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 status line reads V = 1.98 m/s. If anyone asks about 1.43, that is Q divided by the full-pipe area - a common slip.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the red capacity line sits exactly on the blue apex: both axes auto-scale to 1.15x their own maximum, so it is an axis-scaling coincidence, not a physical result.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capacity bar turns red automatically when the pipe is undersized.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single feature of the GUI - say explicitly that bisection runs every frame.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this table - zero error is expected. The next slide is the real validation.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what was NOT used reads as honesty and usually pre-empts a question.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post-progress-presentation problems, as the instructions ask.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precision-vs-accuracy line. It is the single best sentence in the deck.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- it is a roadmap, not a commitment. ~25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last learning outcome deliberately - precision is not accuracy.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bisection not Newton; where does 360 come from; why does Q peak before full; why no lag in the hydrograph.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70287" y="45720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bue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566928"/>
            <a:ext cx="1261872" cy="12618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1170432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DrainFlow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94944" y="22494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Sewer Design Assistant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27614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206 : Engineering Computation Sessional   |   MATLAB Project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3310128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B3A56"/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3101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01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 B2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261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2304099</a:t>
            </a:r>
            <a:endParaRPr lang="en-US" b="1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4261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Amartya Halder</a:t>
            </a:r>
            <a:endParaRPr lang="en-US" b="1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4663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2304104</a:t>
            </a:r>
            <a:endParaRPr lang="en-US" b="1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Fahmidul Haq</a:t>
            </a:r>
            <a:endParaRPr lang="en-US" b="1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50657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2304109</a:t>
            </a:r>
            <a:endParaRPr lang="en-US" b="1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5065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Jubayer Hasan</a:t>
            </a:r>
            <a:endParaRPr lang="en-US" b="1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54681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2304114</a:t>
            </a:r>
            <a:endParaRPr lang="en-US" b="1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5468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Beprojit Das Dipto</a:t>
            </a:r>
            <a:endParaRPr lang="en-US" b="1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261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2304119</a:t>
            </a:r>
            <a:endParaRPr lang="en-US" b="1" dirty="0"/>
          </a:p>
        </p:txBody>
      </p:sp>
      <p:sp>
        <p:nvSpPr>
          <p:cNvPr id="19" name="Text 16"/>
          <p:cNvSpPr txBox="1"/>
          <p:nvPr/>
        </p:nvSpPr>
        <p:spPr>
          <a:xfrm>
            <a:off x="7479792" y="4261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Kawser Ahmed Rakib</a:t>
            </a:r>
            <a:endParaRPr lang="en-US" b="1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63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2304124</a:t>
            </a:r>
            <a:endParaRPr lang="en-US" b="1" dirty="0"/>
          </a:p>
        </p:txBody>
      </p:sp>
      <p:sp>
        <p:nvSpPr>
          <p:cNvPr id="21" name="Text 18"/>
          <p:cNvSpPr txBox="1"/>
          <p:nvPr/>
        </p:nvSpPr>
        <p:spPr>
          <a:xfrm>
            <a:off x="7479792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Afra</a:t>
            </a:r>
            <a:endParaRPr lang="en-US" b="1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0657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2304129</a:t>
            </a:r>
            <a:endParaRPr lang="en-US" b="1" dirty="0"/>
          </a:p>
        </p:txBody>
      </p:sp>
      <p:sp>
        <p:nvSpPr>
          <p:cNvPr id="23" name="Text 20"/>
          <p:cNvSpPr txBox="1"/>
          <p:nvPr/>
        </p:nvSpPr>
        <p:spPr>
          <a:xfrm>
            <a:off x="7479792" y="5065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Sheikh Akbar Kabir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77878" y="62209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02489" y="48336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Why Urban Storm Sewers Need Better Preliminary Design?</a:t>
            </a:r>
            <a:endParaRPr lang="en-US" sz="3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163B11AF-1697-2C23-C6E7-429E16A2F0F5}"/>
              </a:ext>
            </a:extLst>
          </p:cNvPr>
          <p:cNvSpPr/>
          <p:nvPr/>
        </p:nvSpPr>
        <p:spPr>
          <a:xfrm>
            <a:off x="402489" y="1673352"/>
            <a:ext cx="587639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sewer design today is largely manual: repeated hand calculation for every trial pipe size and rainfall scenario.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a fast, repeatable way to estimate peak runoff and check whether a proposed pipe can safely carry it — before detailed design begins.</a:t>
            </a:r>
            <a:endParaRPr lang="en-US" sz="20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03BD9CDE-E2BB-D35A-3271-11D909950B81}"/>
              </a:ext>
            </a:extLst>
          </p:cNvPr>
          <p:cNvSpPr/>
          <p:nvPr/>
        </p:nvSpPr>
        <p:spPr>
          <a:xfrm>
            <a:off x="256715" y="4587241"/>
            <a:ext cx="7667702" cy="1447799"/>
          </a:xfrm>
          <a:prstGeom prst="roundRect">
            <a:avLst>
              <a:gd name="adj" fmla="val 8000"/>
            </a:avLst>
          </a:prstGeom>
          <a:solidFill>
            <a:srgbClr val="0D1524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768856EC-A531-2055-D5D4-5948F6864201}"/>
              </a:ext>
            </a:extLst>
          </p:cNvPr>
          <p:cNvSpPr/>
          <p:nvPr/>
        </p:nvSpPr>
        <p:spPr>
          <a:xfrm>
            <a:off x="611199" y="4975860"/>
            <a:ext cx="7313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4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r>
              <a:rPr lang="en-US" sz="2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an interactive MATLAB app that estimates peak runoff (Rational Method), sizes and verifies storm sewer pipes (Manning's Equation), and visualizes hydraulic performance in real time.</a:t>
            </a:r>
            <a:endParaRPr lang="en-US" sz="20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9FDF543-B67A-39D4-F949-106151E4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492" y="1429684"/>
            <a:ext cx="3301900" cy="4965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stormwater must be carried away safely. A storm sewer fails in four distinct ways: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57984"/>
            <a:ext cx="182880" cy="182880"/>
          </a:xfrm>
          <a:prstGeom prst="ellipse">
            <a:avLst/>
          </a:prstGeom>
          <a:solidFill>
            <a:srgbClr val="EF5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432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capacity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9856" y="1956816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157984"/>
            <a:ext cx="182880" cy="1828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2432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velocity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72784" y="1956816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157984"/>
            <a:ext cx="182880" cy="1828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2432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velocity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25712" y="1956816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157984"/>
            <a:ext cx="182880" cy="182880"/>
          </a:xfrm>
          <a:prstGeom prst="ellipse">
            <a:avLst/>
          </a:prstGeom>
          <a:solidFill>
            <a:srgbClr val="9FB3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432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design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11057839" cy="1903828"/>
          </a:xfrm>
          <a:prstGeom prst="roundRect">
            <a:avLst>
              <a:gd name="adj" fmla="val 2500"/>
            </a:avLst>
          </a:prstGeom>
          <a:solidFill>
            <a:srgbClr val="1B3A5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041648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engineer must therefore answer two coupled questions: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537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water arrives?</a:t>
            </a: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Rainfall  →  runoff  →  required discharge  Q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504748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pipe carry it?</a:t>
            </a: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Diameter, slope, roughness  →  capacity, depth, velocity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logic, from catchment inputs to design decision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2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956816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95681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&amp; pipe inputs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68296" y="2798064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072384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072384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concentration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Kirpich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68296" y="3913632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" y="4187952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4187952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rainfall intensity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interpolation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368296" y="5029200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" y="5303520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530352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discharge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Method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148132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2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35424" y="1956816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195681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Full-pipe capacity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36792" y="2798064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35424" y="3072384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0288" y="3072384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full geometry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segment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36792" y="3913632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35424" y="4187952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0288" y="4187952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method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of Q(y) − Q_req = 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36792" y="5029200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35424" y="5303520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0288" y="530352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 y and velocity V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148132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2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03920" y="1956816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58784" y="195681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Q_full vs Q_req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305288" y="2798064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03920" y="3072384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58784" y="3072384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checks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3.0 m/s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305288" y="3913632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03920" y="4187952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58784" y="4187952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sizing sweep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adequate D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305288" y="5029200"/>
            <a:ext cx="0" cy="256032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503920" y="5303520"/>
            <a:ext cx="3602736" cy="822960"/>
          </a:xfrm>
          <a:prstGeom prst="roundRect">
            <a:avLst>
              <a:gd name="adj" fmla="val 6667"/>
            </a:avLst>
          </a:prstGeom>
          <a:solidFill>
            <a:srgbClr val="1F44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58784" y="530352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STATUS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WARN / FAIL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169664" y="4206240"/>
            <a:ext cx="365760" cy="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38160" y="4206240"/>
            <a:ext cx="365760" cy="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7080" y="27330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Equations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10540" y="1385824"/>
            <a:ext cx="5742432" cy="4572000"/>
          </a:xfrm>
          <a:prstGeom prst="roundRect">
            <a:avLst>
              <a:gd name="adj" fmla="val 1200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179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equation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8366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Q_Capacity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(1/n) · A · R²ᐟ³ · S¹ᐟ²</a:t>
            </a:r>
            <a:endParaRPr lang="en-US" sz="2400" b="1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Q / 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552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flow cross-sectional area  (m²)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124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 hydraulic radius  A/P  (m)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696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 pipe slope  (m/m)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6268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 Manning roughness coefficient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50840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 wetted perimeter — wall only</a:t>
            </a:r>
            <a:endParaRPr lang="en-US" sz="2000" dirty="0"/>
          </a:p>
        </p:txBody>
      </p:sp>
      <p:sp>
        <p:nvSpPr>
          <p:cNvPr id="22" name="Shape 10"/>
          <p:cNvSpPr/>
          <p:nvPr/>
        </p:nvSpPr>
        <p:spPr>
          <a:xfrm>
            <a:off x="6461760" y="1361440"/>
            <a:ext cx="5163007" cy="4572000"/>
          </a:xfrm>
          <a:prstGeom prst="roundRect">
            <a:avLst>
              <a:gd name="adj" fmla="val 370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6589842" y="1385824"/>
            <a:ext cx="4906842" cy="593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runoff  (Rational Method)</a:t>
            </a:r>
            <a:endParaRPr lang="en-US" sz="1500" dirty="0"/>
          </a:p>
        </p:txBody>
      </p:sp>
      <p:sp>
        <p:nvSpPr>
          <p:cNvPr id="24" name="Text 12"/>
          <p:cNvSpPr txBox="1"/>
          <p:nvPr/>
        </p:nvSpPr>
        <p:spPr>
          <a:xfrm>
            <a:off x="6717925" y="1853522"/>
            <a:ext cx="4906842" cy="76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Q_Req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 C · i · A / 360</a:t>
            </a:r>
            <a:endParaRPr lang="en-US" sz="3200" b="1" dirty="0"/>
          </a:p>
        </p:txBody>
      </p:sp>
      <p:sp>
        <p:nvSpPr>
          <p:cNvPr id="25" name="Text 13"/>
          <p:cNvSpPr txBox="1"/>
          <p:nvPr/>
        </p:nvSpPr>
        <p:spPr>
          <a:xfrm>
            <a:off x="6814070" y="3868476"/>
            <a:ext cx="4906842" cy="9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peak discharge (m³/s)  · </a:t>
            </a:r>
          </a:p>
          <a:p>
            <a:pPr marL="0" indent="0">
              <a:buNone/>
            </a:pPr>
            <a:endParaRPr lang="en-US" sz="200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runoff coefficient  ·  </a:t>
            </a:r>
          </a:p>
          <a:p>
            <a:pPr marL="0" indent="0">
              <a:buNone/>
            </a:pPr>
            <a:endParaRPr lang="en-US" sz="200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intensity (mm/hr)  · </a:t>
            </a:r>
          </a:p>
          <a:p>
            <a:pPr marL="0" indent="0">
              <a:buNone/>
            </a:pPr>
            <a:endParaRPr lang="en-US" sz="200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catchment area (ha)  · </a:t>
            </a:r>
          </a:p>
          <a:p>
            <a:pPr marL="0" indent="0">
              <a:buNone/>
            </a:pPr>
            <a:endParaRPr lang="en-US" sz="200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360 unit conversion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Equations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481328"/>
          </a:xfrm>
          <a:prstGeom prst="roundRect">
            <a:avLst>
              <a:gd name="adj" fmla="val 370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81328"/>
            <a:ext cx="10509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concentration  (Kirpich)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2880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  =  0.0195 · L⁰·⁷⁷ · Sᴄ⁻⁰·³⁸⁵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14016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tᴄ time of concentration (min)  ·  L overland flow length (m)  ·  Sᴄ catchment slope (m/m)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6928" y="3072384"/>
            <a:ext cx="11057839" cy="1481328"/>
          </a:xfrm>
          <a:prstGeom prst="roundRect">
            <a:avLst>
              <a:gd name="adj" fmla="val 370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182112"/>
            <a:ext cx="10509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rainfall intensity  (log–log interpolation)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529584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i  =  ln i₁  +  f · ( ln i₂ − ln i₁ ) ,    f = ln(t/t₁) / ln(t₂/t₁)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1148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intensity (mm/hr)  ·  t duration (min)  ·  i₁, i₂ tabulated values  ·  f position in log-duration space</a:t>
            </a:r>
            <a:endParaRPr lang="en-US" dirty="0"/>
          </a:p>
        </p:txBody>
      </p:sp>
      <p:sp>
        <p:nvSpPr>
          <p:cNvPr id="24" name="Shape 11"/>
          <p:cNvSpPr/>
          <p:nvPr/>
        </p:nvSpPr>
        <p:spPr>
          <a:xfrm>
            <a:off x="566928" y="4696982"/>
            <a:ext cx="11057839" cy="1487846"/>
          </a:xfrm>
          <a:prstGeom prst="roundRect">
            <a:avLst>
              <a:gd name="adj" fmla="val 1200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841248" y="4725975"/>
            <a:ext cx="8632400" cy="336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full circular pipe</a:t>
            </a:r>
            <a:endParaRPr lang="en-US" sz="1200" dirty="0"/>
          </a:p>
        </p:txBody>
      </p:sp>
      <p:sp>
        <p:nvSpPr>
          <p:cNvPr id="26" name="Text 13"/>
          <p:cNvSpPr txBox="1"/>
          <p:nvPr/>
        </p:nvSpPr>
        <p:spPr>
          <a:xfrm>
            <a:off x="858238" y="5070644"/>
            <a:ext cx="8632400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=  2 · cos⁻¹ ( 1 − 2y/D )</a:t>
            </a:r>
            <a:endParaRPr lang="en-US" sz="2000" dirty="0"/>
          </a:p>
        </p:txBody>
      </p:sp>
      <p:sp>
        <p:nvSpPr>
          <p:cNvPr id="27" name="Text 14"/>
          <p:cNvSpPr txBox="1"/>
          <p:nvPr/>
        </p:nvSpPr>
        <p:spPr>
          <a:xfrm>
            <a:off x="4139918" y="5070644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(D²/8) · ( θ − sin θ )</a:t>
            </a:r>
            <a:endParaRPr lang="en-US" sz="2000" dirty="0"/>
          </a:p>
        </p:txBody>
      </p:sp>
      <p:sp>
        <p:nvSpPr>
          <p:cNvPr id="28" name="Text 15"/>
          <p:cNvSpPr txBox="1"/>
          <p:nvPr/>
        </p:nvSpPr>
        <p:spPr>
          <a:xfrm>
            <a:off x="858238" y="5398205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</a:t>
            </a:r>
            <a:r>
              <a:rPr lang="en-US" sz="20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Dθ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2</a:t>
            </a:r>
            <a:endParaRPr lang="en-US" sz="2000" dirty="0"/>
          </a:p>
        </p:txBody>
      </p:sp>
      <p:sp>
        <p:nvSpPr>
          <p:cNvPr id="29" name="Text 16"/>
          <p:cNvSpPr txBox="1"/>
          <p:nvPr/>
        </p:nvSpPr>
        <p:spPr>
          <a:xfrm>
            <a:off x="4139918" y="5406212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A / P</a:t>
            </a:r>
            <a:endParaRPr lang="en-US" sz="2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27A3CD1-FFFE-BB6B-1309-CC6EAD5E93A9}"/>
              </a:ext>
            </a:extLst>
          </p:cNvPr>
          <p:cNvSpPr txBox="1"/>
          <p:nvPr/>
        </p:nvSpPr>
        <p:spPr>
          <a:xfrm>
            <a:off x="841247" y="5788806"/>
            <a:ext cx="749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θ, P, A, R </a:t>
            </a:r>
            <a:r>
              <a:rPr lang="en-US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Partially Fully Circular Pipe Dimensions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C920C-DC21-C20F-7CC6-A87D68FF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530F87-C015-ECE7-439B-DC9300321EF2}"/>
              </a:ext>
            </a:extLst>
          </p:cNvPr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103408FA-D3BD-882D-5274-78A982EE933D}"/>
              </a:ext>
            </a:extLst>
          </p:cNvPr>
          <p:cNvSpPr/>
          <p:nvPr/>
        </p:nvSpPr>
        <p:spPr>
          <a:xfrm>
            <a:off x="422148" y="410397"/>
            <a:ext cx="11057839" cy="1487846"/>
          </a:xfrm>
          <a:prstGeom prst="roundRect">
            <a:avLst>
              <a:gd name="adj" fmla="val 1200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5B5F1B59-6A5F-5DEB-A7C1-98D93C7843D1}"/>
              </a:ext>
            </a:extLst>
          </p:cNvPr>
          <p:cNvSpPr txBox="1"/>
          <p:nvPr/>
        </p:nvSpPr>
        <p:spPr>
          <a:xfrm>
            <a:off x="696467" y="462173"/>
            <a:ext cx="8632400" cy="336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full circular pipe</a:t>
            </a:r>
            <a:endParaRPr lang="en-US" sz="12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E0C2A039-B9EC-5459-BCF6-4C597012A746}"/>
              </a:ext>
            </a:extLst>
          </p:cNvPr>
          <p:cNvSpPr txBox="1"/>
          <p:nvPr/>
        </p:nvSpPr>
        <p:spPr>
          <a:xfrm>
            <a:off x="713458" y="784059"/>
            <a:ext cx="8632400" cy="31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=  2 · cos⁻¹ ( 1 − 2y/D )</a:t>
            </a:r>
            <a:endParaRPr lang="en-US" sz="20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10854D8-29C1-D6A5-BD07-98C6F7F05B2F}"/>
              </a:ext>
            </a:extLst>
          </p:cNvPr>
          <p:cNvSpPr txBox="1"/>
          <p:nvPr/>
        </p:nvSpPr>
        <p:spPr>
          <a:xfrm>
            <a:off x="4139918" y="729026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(D²/8) · ( θ − sin θ )</a:t>
            </a:r>
            <a:endParaRPr lang="en-US" sz="2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EC2AAF6-1692-6366-18A5-7D4151B8A9CA}"/>
              </a:ext>
            </a:extLst>
          </p:cNvPr>
          <p:cNvSpPr txBox="1"/>
          <p:nvPr/>
        </p:nvSpPr>
        <p:spPr>
          <a:xfrm>
            <a:off x="713458" y="1111620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</a:t>
            </a:r>
            <a:r>
              <a:rPr lang="en-US" sz="20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Dθ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2</a:t>
            </a:r>
            <a:endParaRPr lang="en-US" sz="20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A0F8C4F5-F009-6284-4DCE-0274F570AC48}"/>
              </a:ext>
            </a:extLst>
          </p:cNvPr>
          <p:cNvSpPr txBox="1"/>
          <p:nvPr/>
        </p:nvSpPr>
        <p:spPr>
          <a:xfrm>
            <a:off x="4139918" y="1064594"/>
            <a:ext cx="863240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A / P</a:t>
            </a:r>
            <a:endParaRPr lang="en-US" sz="2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BBCB115-A480-D46B-4E50-4E5AA257F26C}"/>
              </a:ext>
            </a:extLst>
          </p:cNvPr>
          <p:cNvSpPr txBox="1"/>
          <p:nvPr/>
        </p:nvSpPr>
        <p:spPr>
          <a:xfrm>
            <a:off x="696467" y="1502221"/>
            <a:ext cx="749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θ, P, A, R </a:t>
            </a:r>
            <a:r>
              <a:rPr lang="en-US" sz="2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Partially Fully Circular Pipe Dimensions 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63DCAF-80B5-AAEF-5FDC-C22EB4BA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7" y="2431659"/>
            <a:ext cx="4612346" cy="37409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D850B9-C4A0-8375-3361-553097C8F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31659"/>
            <a:ext cx="4503573" cy="373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8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82496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499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Method for peak runoff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88366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small urban catchments; rainfall uniform over the area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682496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1696" y="1499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duration = time of concentration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11696" y="188366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catchment contributes simultaneously at this duration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889504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706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rainfall pattern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09067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the live visualisation only, not for the design calculation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9632" y="257860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2889504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11696" y="2706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equation for pipe flow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309067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uniform flow; normal depth assumed to be established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37856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096512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pipe cross-section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2976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area treated as a circular segment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9632" y="37856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096512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 obtained numerically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42976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 equation cannot be rearranged algebraically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303520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992" y="5120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limits 0.6 – 3.0 m/s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55046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Self-cleansing at the lower end, scour protection at the upper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9632" y="499262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303520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11696" y="5120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judged on full-bore flow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711696" y="55046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part-full discharge bonus is deliberately not claimed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functions call one another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80560" y="1298448"/>
            <a:ext cx="3246120" cy="585216"/>
          </a:xfrm>
          <a:prstGeom prst="roundRect">
            <a:avLst>
              <a:gd name="adj" fmla="val 9375"/>
            </a:avLst>
          </a:prstGeom>
          <a:solidFill>
            <a:srgbClr val="1B3A5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35424" y="1298448"/>
            <a:ext cx="3136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DrainFlow   (main GUI)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9048" y="1901952"/>
            <a:ext cx="0" cy="201168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2139696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5424" y="2139696"/>
            <a:ext cx="3136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recompute()   — runs on every input change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572768" y="2871216"/>
            <a:ext cx="9582912" cy="0"/>
          </a:xfrm>
          <a:prstGeom prst="line">
            <a:avLst/>
          </a:prstGeom>
          <a:noFill/>
          <a:ln w="15875">
            <a:solidFill>
              <a:srgbClr val="2C5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9048" y="2670048"/>
            <a:ext cx="0" cy="201168"/>
          </a:xfrm>
          <a:prstGeom prst="line">
            <a:avLst/>
          </a:prstGeom>
          <a:noFill/>
          <a:ln w="15875">
            <a:solidFill>
              <a:srgbClr val="2C54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2871216"/>
            <a:ext cx="0" cy="20116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12724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1272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time_of_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68496" y="2871216"/>
            <a:ext cx="0" cy="20116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62656" y="312724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17520" y="31272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idf_intensity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64224" y="2871216"/>
            <a:ext cx="0" cy="20116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58384" y="312724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13248" y="31272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rational_Q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759952" y="2871216"/>
            <a:ext cx="0" cy="20116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54112" y="312724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08976" y="31272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manning_capacity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1155680" y="2871216"/>
            <a:ext cx="0" cy="20116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312724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04704" y="312724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solveDepth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1155680" y="3675888"/>
            <a:ext cx="0" cy="18288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49840" y="3895344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04704" y="389534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bisect_root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1155680" y="4389120"/>
            <a:ext cx="0" cy="18288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149840" y="4608576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04704" y="4608576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manning_Q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1155680" y="5102352"/>
            <a:ext cx="0" cy="18288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5321808"/>
            <a:ext cx="2011680" cy="493776"/>
          </a:xfrm>
          <a:prstGeom prst="roundRect">
            <a:avLst>
              <a:gd name="adj" fmla="val 1111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04704" y="5321808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pipe_geometry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393192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4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and reporting branch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66928" y="437083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437083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triangular_hyetograph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675888" y="437083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30752" y="437083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drawHero · drawHydro · drawBar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784848" y="437083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39712" y="437083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printReport · runoff_volume · pipe_sizing</a:t>
            </a:r>
            <a:endParaRPr lang="en-US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2303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manning_capacity also calls manning_Q. printReport re-runs every calculation at tight tolerance and prints the full audit trail.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time_of_</a:t>
            </a:r>
            <a:r>
              <a:rPr lang="en-US" sz="16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concentration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865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Kirpich travel time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15361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Sc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224528" y="18653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 (minutes)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idf_intensity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2724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Khulna IDF table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2395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return period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27249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(mm/hr), exact-or-interpolated flag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6928" y="3182112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rational_Q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runoff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3255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i, A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35844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(m³/s)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6928" y="404164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pipe_geometry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4439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Circular-segment properties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24528" y="4114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D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44439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P, R, top width, θ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66928" y="4901184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4956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manning_Q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5303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Manning solution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49743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D, S, n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4224528" y="53035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V, R, 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and support functions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manning_capacity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865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Full-bore and maximum discharge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15361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D, S, n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224528" y="18653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Qfull, Vfull, Qmax, y at Qmax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bisect_root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2724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bracketed root finder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2395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xl, xu, tolerance, max iter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27249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f(root), error, iterations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6928" y="3182112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solveDepth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Manning for depth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3255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required, D, S, n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35844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 y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6928" y="404164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triangular_hyetograph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4439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storm shape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24528" y="41148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duration, peak intensity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44439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i(t)  (vectorised)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66928" y="4901184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4956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runoff_volume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5303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and Simpson integration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49743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hydrograph  Q(t)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4224528" y="53035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runoff volume  (m³)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" y="5815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pipe_sizing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" y="61630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sweep, 0.15 – 2.00 m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58338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required, S, n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4224528" y="616305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adequate D, commercial size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DrainFlow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7635240" cy="4846320"/>
          </a:xfrm>
          <a:prstGeom prst="roundRect">
            <a:avLst>
              <a:gd name="adj" fmla="val 1509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6" name="Image 0" descr="crops/case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1" y="1554480"/>
            <a:ext cx="7377333" cy="42793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" y="5925312"/>
            <a:ext cx="7379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DrainFlow  —  full interface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49056" y="1426464"/>
            <a:ext cx="3182112" cy="80467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31936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&amp; rainfall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8631936" y="17922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C, length, slope, return period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42655" y="2295144"/>
            <a:ext cx="3182112" cy="71323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31936" y="2304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design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8631936" y="26151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diameter, slope, material roughness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49056" y="3072384"/>
            <a:ext cx="3182112" cy="71323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31936" y="31272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readouts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8631936" y="3438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tᴄ, required Q, pipe capacity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49056" y="3895344"/>
            <a:ext cx="3182112" cy="71323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31936" y="39502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animation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8631936" y="42611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depth solved every frame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449056" y="4718304"/>
            <a:ext cx="3182112" cy="71323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31936" y="4773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Hyetograph &amp; runoff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8631936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shape and discharge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449056" y="5541264"/>
            <a:ext cx="3182112" cy="713232"/>
          </a:xfrm>
          <a:prstGeom prst="roundRect">
            <a:avLst>
              <a:gd name="adj" fmla="val 769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31936" y="55961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 demand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8631936" y="5907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check, as bars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— Design Passes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7882128" cy="4535424"/>
          </a:xfrm>
          <a:prstGeom prst="roundRect">
            <a:avLst>
              <a:gd name="adj" fmla="val 161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case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25" y="1408176"/>
            <a:ext cx="7377333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0.6328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564892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83764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683764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0.7872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35424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54296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 m/s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05956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4828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624828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595360" y="1280160"/>
            <a:ext cx="3029407" cy="950976"/>
          </a:xfrm>
          <a:prstGeom prst="roundRect">
            <a:avLst>
              <a:gd name="adj" fmla="val 7692"/>
            </a:avLst>
          </a:prstGeom>
          <a:solidFill>
            <a:srgbClr val="1B3A56"/>
          </a:solidFill>
          <a:ln w="25400">
            <a:solidFill>
              <a:srgbClr val="3DDC9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68512" y="1280160"/>
            <a:ext cx="288310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PASSES</a:t>
            </a:r>
            <a:endParaRPr lang="en-US" sz="28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6321F4D-8628-E7A2-DD97-F9572FDC9C95}"/>
              </a:ext>
            </a:extLst>
          </p:cNvPr>
          <p:cNvSpPr/>
          <p:nvPr/>
        </p:nvSpPr>
        <p:spPr>
          <a:xfrm>
            <a:off x="8668512" y="2511474"/>
            <a:ext cx="3182112" cy="1517904"/>
          </a:xfrm>
          <a:prstGeom prst="roundRect">
            <a:avLst>
              <a:gd name="adj" fmla="val 361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118A431B-9EC6-D722-FE2C-5959B6B9BD15}"/>
              </a:ext>
            </a:extLst>
          </p:cNvPr>
          <p:cNvSpPr txBox="1"/>
          <p:nvPr/>
        </p:nvSpPr>
        <p:spPr>
          <a:xfrm>
            <a:off x="8851392" y="263949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7A404E9-3007-9102-13C5-8ADC6BBF3514}"/>
              </a:ext>
            </a:extLst>
          </p:cNvPr>
          <p:cNvSpPr txBox="1"/>
          <p:nvPr/>
        </p:nvSpPr>
        <p:spPr>
          <a:xfrm>
            <a:off x="8851392" y="293209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Q_Capacity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≥  Q_req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 ≤  V  ≤  3.0 m/s</a:t>
            </a:r>
            <a:endParaRPr 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— Undersized Pipe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7882128" cy="4535424"/>
          </a:xfrm>
          <a:prstGeom prst="roundRect">
            <a:avLst>
              <a:gd name="adj" fmla="val 161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case_unders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25" y="1408176"/>
            <a:ext cx="7377333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0.9505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564892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83764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683764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0.7872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35424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54296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1.78 m/s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05956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4828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624828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595360" y="1280160"/>
            <a:ext cx="3029407" cy="950976"/>
          </a:xfrm>
          <a:prstGeom prst="roundRect">
            <a:avLst>
              <a:gd name="adj" fmla="val 7692"/>
            </a:avLst>
          </a:prstGeom>
          <a:solidFill>
            <a:srgbClr val="1B3A56"/>
          </a:solidFill>
          <a:ln w="25400">
            <a:solidFill>
              <a:srgbClr val="EF5F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68512" y="1280160"/>
            <a:ext cx="288310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UNDERSIZED</a:t>
            </a:r>
            <a:endParaRPr lang="en-US" sz="28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99D7919-B4ED-14D9-E2C7-456AE4D4818F}"/>
              </a:ext>
            </a:extLst>
          </p:cNvPr>
          <p:cNvSpPr/>
          <p:nvPr/>
        </p:nvSpPr>
        <p:spPr>
          <a:xfrm>
            <a:off x="8701453" y="2496312"/>
            <a:ext cx="3182112" cy="1517904"/>
          </a:xfrm>
          <a:prstGeom prst="roundRect">
            <a:avLst>
              <a:gd name="adj" fmla="val 361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1F5AED3-7B2B-BC76-BAA2-5362DDF6F036}"/>
              </a:ext>
            </a:extLst>
          </p:cNvPr>
          <p:cNvSpPr txBox="1"/>
          <p:nvPr/>
        </p:nvSpPr>
        <p:spPr>
          <a:xfrm>
            <a:off x="8884333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215AFFC-C6B5-59C0-0EF0-CD6A41CC15E3}"/>
              </a:ext>
            </a:extLst>
          </p:cNvPr>
          <p:cNvSpPr txBox="1"/>
          <p:nvPr/>
        </p:nvSpPr>
        <p:spPr>
          <a:xfrm>
            <a:off x="8945739" y="28803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Q_Capacity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&lt;  Q_req</a:t>
            </a:r>
            <a:endParaRPr 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— Velocity Too High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7882128" cy="4535424"/>
          </a:xfrm>
          <a:prstGeom prst="roundRect">
            <a:avLst>
              <a:gd name="adj" fmla="val 161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case_v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40" y="1408176"/>
            <a:ext cx="7370705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0.6328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564892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83764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683764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1.3531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35424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54296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3.01 m/s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05956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4828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624828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595360" y="1280160"/>
            <a:ext cx="3029407" cy="950976"/>
          </a:xfrm>
          <a:prstGeom prst="roundRect">
            <a:avLst>
              <a:gd name="adj" fmla="val 7692"/>
            </a:avLst>
          </a:prstGeom>
          <a:solidFill>
            <a:srgbClr val="1B3A56"/>
          </a:solidFill>
          <a:ln w="25400">
            <a:solidFill>
              <a:srgbClr val="F2A3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68512" y="1280160"/>
            <a:ext cx="288310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TOO HIGH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RISK</a:t>
            </a: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6DFD7F92-6BEA-39B9-8EAB-86FEC3DE4561}"/>
              </a:ext>
            </a:extLst>
          </p:cNvPr>
          <p:cNvSpPr/>
          <p:nvPr/>
        </p:nvSpPr>
        <p:spPr>
          <a:xfrm>
            <a:off x="8595360" y="2554224"/>
            <a:ext cx="3182112" cy="1517904"/>
          </a:xfrm>
          <a:prstGeom prst="roundRect">
            <a:avLst>
              <a:gd name="adj" fmla="val 361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8F6138B-C372-1D07-AA25-92C0658FF18A}"/>
              </a:ext>
            </a:extLst>
          </p:cNvPr>
          <p:cNvSpPr txBox="1"/>
          <p:nvPr/>
        </p:nvSpPr>
        <p:spPr>
          <a:xfrm>
            <a:off x="8631936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19361E9-B8B7-DDB8-3407-6B09A768AD40}"/>
              </a:ext>
            </a:extLst>
          </p:cNvPr>
          <p:cNvSpPr txBox="1"/>
          <p:nvPr/>
        </p:nvSpPr>
        <p:spPr>
          <a:xfrm>
            <a:off x="8668512" y="2894076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&gt;  3.0 m/s</a:t>
            </a:r>
            <a:endParaRPr lang="en-US" sz="32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— Velocity Too Low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7882128" cy="4535424"/>
          </a:xfrm>
          <a:prstGeom prst="roundRect">
            <a:avLst>
              <a:gd name="adj" fmla="val 161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case_v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09" y="1408176"/>
            <a:ext cx="7403966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0.1442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564892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83764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683764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1.2655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35424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54296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 m/s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05956" y="5907024"/>
            <a:ext cx="19156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4828" y="5943600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624828" y="6181344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595360" y="1280160"/>
            <a:ext cx="3029407" cy="950976"/>
          </a:xfrm>
          <a:prstGeom prst="roundRect">
            <a:avLst>
              <a:gd name="adj" fmla="val 7692"/>
            </a:avLst>
          </a:prstGeom>
          <a:solidFill>
            <a:srgbClr val="1B3A56"/>
          </a:solidFill>
          <a:ln w="25400">
            <a:solidFill>
              <a:srgbClr val="F2A3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68512" y="1280160"/>
            <a:ext cx="288310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TOO LOW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SILTATION RISK</a:t>
            </a:r>
            <a:endParaRPr lang="en-US" sz="24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538B21E9-2C9F-272E-B913-07A83373CD70}"/>
              </a:ext>
            </a:extLst>
          </p:cNvPr>
          <p:cNvSpPr/>
          <p:nvPr/>
        </p:nvSpPr>
        <p:spPr>
          <a:xfrm>
            <a:off x="8519007" y="2536249"/>
            <a:ext cx="3182112" cy="1517904"/>
          </a:xfrm>
          <a:prstGeom prst="roundRect">
            <a:avLst>
              <a:gd name="adj" fmla="val 3614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310028CB-E098-EB3C-37DB-897A07E9C34D}"/>
              </a:ext>
            </a:extLst>
          </p:cNvPr>
          <p:cNvSpPr txBox="1"/>
          <p:nvPr/>
        </p:nvSpPr>
        <p:spPr>
          <a:xfrm>
            <a:off x="8631936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4AFFDCC-20FE-FC5A-E571-28502A9D3090}"/>
              </a:ext>
            </a:extLst>
          </p:cNvPr>
          <p:cNvSpPr txBox="1"/>
          <p:nvPr/>
        </p:nvSpPr>
        <p:spPr>
          <a:xfrm>
            <a:off x="8631936" y="2962656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  &lt;  0.6 m/s</a:t>
            </a:r>
            <a:endParaRPr lang="en-US" sz="32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Calculation — Input Data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following slide uses this one input 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7276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area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584448" y="157276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133088" y="1572768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31536" y="157276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56735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 coefficient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5603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256032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5603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547872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5478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flow length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354787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547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3547872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4535424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53542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slope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453542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Sᴄ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133088" y="4535424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0.0050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431536" y="453542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99632" y="1572768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157276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period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157276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1572768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157276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99632" y="2560320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25603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diameter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217152" y="25603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765792" y="256032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25603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99632" y="3547872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7376" y="354787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slope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217152" y="354787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9765792" y="3547872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1064240" y="3547872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99632" y="4535424"/>
            <a:ext cx="5413248" cy="841248"/>
          </a:xfrm>
          <a:prstGeom prst="roundRect">
            <a:avLst>
              <a:gd name="adj" fmla="val 65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453542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roughness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453542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100" dirty="0"/>
          </a:p>
        </p:txBody>
      </p:sp>
      <p:sp>
        <p:nvSpPr>
          <p:cNvPr id="43" name="Text 41"/>
          <p:cNvSpPr txBox="1"/>
          <p:nvPr/>
        </p:nvSpPr>
        <p:spPr>
          <a:xfrm>
            <a:off x="9765792" y="4535424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11064240" y="453542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7972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duration is set equal to the time of concentration  —  concrete pipe, Khulna IDF table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of Concentration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  =  0.0195 · L⁰·⁷⁷ · Sᴄ⁻⁰·³⁸⁵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  =  0.0195 × (600)⁰·⁷⁷ × (0.0050)⁻⁰·³⁸⁵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  =  0.0195 × 137.777 × 7.6895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  =  20.66 min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7379208" y="1476332"/>
            <a:ext cx="4245559" cy="1893656"/>
          </a:xfrm>
          <a:prstGeom prst="roundRect">
            <a:avLst>
              <a:gd name="adj" fmla="val 386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17" name="Image 0" descr="crops/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604348"/>
            <a:ext cx="3989527" cy="132672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07224" y="3022516"/>
            <a:ext cx="3989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output  —  t_c = 20.7 min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79208" y="3840480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0376" y="3931920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580376" y="42428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tᴄ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242816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concentration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874959" y="4242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580376" y="46268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626864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flow length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4626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580376" y="50109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Sᴄ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5010912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slope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874959" y="5010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580376" y="53949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0.0195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5394960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Kirpich empirical constant, SI form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0874959" y="5394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Rainfall Intensity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i  =  ln i₁  +  f · ( ln i₂ − ln i₁ 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 → 218.15 mm/hr      30 min → 135.76 mm/hr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15 &lt; 20.66 &lt; 30, interpolate in log–log space: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ln(20.66/15) / ln(30/15) = 0.4618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i = ln(218.15) + 0.4618 × [ ln(135.76) − ln(218.15) 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=  175.24 mm/hr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15584"/>
            <a:ext cx="5934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 would give 187.1 mm/hr — 6.8 % high, because IDF curves are convex.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9208" y="1699135"/>
            <a:ext cx="4245559" cy="1448051"/>
          </a:xfrm>
          <a:prstGeom prst="roundRect">
            <a:avLst>
              <a:gd name="adj" fmla="val 5052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17" name="Image 0" descr="crops/int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827151"/>
            <a:ext cx="3989527" cy="88112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07224" y="2799713"/>
            <a:ext cx="3989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output  —  i = 175.2 mm/hr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79208" y="3840480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0376" y="3931920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580376" y="42428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242816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rainfall intensity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874959" y="4242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mm/hr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580376" y="46268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i₁, i₂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626864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tabulated intensities either side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4626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mm/hr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580376" y="50109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t₁, t₂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5010912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bracketing table durations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874959" y="5010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580376" y="53949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5394960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log-duration space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0874959" y="5394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80376" y="57790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779008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period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874959" y="57790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Discharge — Rational Method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C · i · A / 360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( 0.65 × 175.24 × 2.00 ) / 360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227.81 / 360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Q_req  =  0.6328 m³/s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15584"/>
            <a:ext cx="5934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is a unit conversion, not an empirical constant: 1 mm/hr over 1 ha = 10/3600 m³/s.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9208" y="1597003"/>
            <a:ext cx="4245559" cy="1652314"/>
          </a:xfrm>
          <a:prstGeom prst="roundRect">
            <a:avLst>
              <a:gd name="adj" fmla="val 4427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17" name="Image 0" descr="crops/qr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725019"/>
            <a:ext cx="3989527" cy="108538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07224" y="2901845"/>
            <a:ext cx="3989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output  —  Required Q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79208" y="3840480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0376" y="3931920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80376" y="42428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242816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runoff discharge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874959" y="4242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580376" y="46268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626864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 coefficient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4626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0376" y="50109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5010912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0874959" y="5010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mm/hr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80376" y="53949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5394960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area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874959" y="5394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580376" y="57790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779008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 factor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0874959" y="57790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Full-Pipe Geometry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πD²/4              R  =  D/4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π × (0.75)² / 4  =  0.4418 m²</a:t>
            </a:r>
            <a:endParaRPr lang="en-US" sz="2000" dirty="0"/>
          </a:p>
          <a:p>
            <a:pPr marL="0" indent="0">
              <a:lnSpc>
                <a:spcPct val="122000"/>
              </a:lnSpc>
              <a:buNone/>
            </a:pPr>
            <a:endParaRPr lang="en-US" sz="20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0.75 / 4  =  0.1875 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35409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0.4418 m²    R = 0.1875 m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7460132" y="2579077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1300" y="2670517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61300" y="2981413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56244" y="2981413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full-bore flow area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0955883" y="2981413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61300" y="3365461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356244" y="3365461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pipe diameter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10955883" y="3365461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661300" y="3749509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56244" y="3749509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wetted perimeter  (= πD when full)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10955883" y="3749509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661300" y="4133557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56244" y="4133557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radius,  A / P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10955883" y="4133557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Full-Pipe Capacity — Manning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(1/n) · A · R²ᐟ³ · S¹ᐟ²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(1/0.013) × 0.4418 × (0.1875)²ᐟ³ × (0.0050)¹ᐟ²</a:t>
            </a:r>
            <a:endParaRPr lang="en-US" sz="1900" dirty="0"/>
          </a:p>
          <a:p>
            <a:pPr marL="0" indent="0">
              <a:lnSpc>
                <a:spcPct val="122000"/>
              </a:lnSpc>
              <a:buNone/>
            </a:pPr>
            <a:endParaRPr lang="en-US" sz="1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76.923 × 0.4418 × 0.32759 × 0.070711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338463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</a:t>
            </a:r>
            <a:r>
              <a:rPr lang="en-US" sz="4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0.7872 m³/s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7379208" y="1588903"/>
            <a:ext cx="4245559" cy="1668514"/>
          </a:xfrm>
          <a:prstGeom prst="roundRect">
            <a:avLst>
              <a:gd name="adj" fmla="val 4384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17" name="Image 0" descr="crops/q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716919"/>
            <a:ext cx="3989527" cy="110158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07224" y="2909945"/>
            <a:ext cx="3989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output  —  Pipe capacity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79208" y="3840480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0376" y="3931920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80376" y="4242816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242816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full-bore discharge capacity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874959" y="4242816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580376" y="4565904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565904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 roughness coefficient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4565904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0376" y="4888992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4888992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cross-sectional area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0874959" y="4888992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80376" y="5212080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5212080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radius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874959" y="5212080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580376" y="5535168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535168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slope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0874959" y="5535168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80376" y="5858256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dirty="0"/>
          </a:p>
        </p:txBody>
      </p:sp>
      <p:sp>
        <p:nvSpPr>
          <p:cNvPr id="37" name="Text 34"/>
          <p:cNvSpPr txBox="1"/>
          <p:nvPr/>
        </p:nvSpPr>
        <p:spPr>
          <a:xfrm>
            <a:off x="8275320" y="5858256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velocity,  Q / A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874959" y="5858256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Check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3072384" cy="1828800"/>
          </a:xfrm>
          <a:prstGeom prst="roundRect">
            <a:avLst>
              <a:gd name="adj" fmla="val 3000"/>
            </a:avLst>
          </a:prstGeom>
          <a:solidFill>
            <a:srgbClr val="13293F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7739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0.6328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6883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8768" y="1298448"/>
            <a:ext cx="3072384" cy="1828800"/>
          </a:xfrm>
          <a:prstGeom prst="roundRect">
            <a:avLst>
              <a:gd name="adj" fmla="val 3000"/>
            </a:avLst>
          </a:prstGeom>
          <a:solidFill>
            <a:srgbClr val="13293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78224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78224" y="17739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0.7872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4078224" y="26883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6364224" cy="1225296"/>
          </a:xfrm>
          <a:prstGeom prst="roundRect">
            <a:avLst>
              <a:gd name="adj" fmla="val 447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346704"/>
            <a:ext cx="58887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/ demand  =  0.7872 / 0.6328  =  1.244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4791456"/>
            <a:ext cx="6364224" cy="1481328"/>
          </a:xfrm>
          <a:prstGeom prst="roundRect">
            <a:avLst>
              <a:gd name="adj" fmla="val 4938"/>
            </a:avLst>
          </a:prstGeom>
          <a:solidFill>
            <a:srgbClr val="12332A"/>
          </a:solidFill>
          <a:ln w="2540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9011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Q_Capacity</a:t>
            </a:r>
            <a:r>
              <a:rPr lang="en-US" sz="2200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&gt;  Q_req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3949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CHECK PASSES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7370064" y="1369253"/>
            <a:ext cx="4254703" cy="3241669"/>
          </a:xfrm>
          <a:prstGeom prst="roundRect">
            <a:avLst>
              <a:gd name="adj" fmla="val 2257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20" name="Image 0" descr="crops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97269"/>
            <a:ext cx="3998671" cy="2674741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498080" y="4263451"/>
            <a:ext cx="3998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—  Capacity vs peak demand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70064" y="4901184"/>
            <a:ext cx="4254703" cy="1371600"/>
          </a:xfrm>
          <a:prstGeom prst="roundRect">
            <a:avLst>
              <a:gd name="adj" fmla="val 4000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71232" y="4992624"/>
            <a:ext cx="3852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571232" y="5303520"/>
            <a:ext cx="676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Q_req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66176" y="5303520"/>
            <a:ext cx="259049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peak discharge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874959" y="5303520"/>
            <a:ext cx="54864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571232" y="5590032"/>
            <a:ext cx="676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Q_full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66176" y="5590032"/>
            <a:ext cx="259049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full-bore pipe capacity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874959" y="5590032"/>
            <a:ext cx="54864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571232" y="5876544"/>
            <a:ext cx="676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66176" y="5876544"/>
            <a:ext cx="259049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Q_full / Q_req, the spare margin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0874959" y="5876544"/>
            <a:ext cx="54864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Partially Full Pipe — the Inverse Problem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Q(y)  =  (1/n) · A(y) · R(y)²ᐟ³ · S¹ᐟ²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2 cos⁻¹ ( 1 − 2y/D )        A = (D²/8)(θ − sin θ)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Dθ / 2                        R = A / P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Required:  find y such that  Q(y) = Q_req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cannot be isolated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15584"/>
            <a:ext cx="5934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sits inside an arccos, inside a sine, inside a 5/3 power. The equation is transcendental — no algebraic rearrangement exists.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60132" y="3953334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1300" y="4044774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61300" y="4355670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8356244" y="4355670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depth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55883" y="4355670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661300" y="4678758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8356244" y="4678758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of the wetted arc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55883" y="4678758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61300" y="5001846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A(y)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8356244" y="5001846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area at depth 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55883" y="5001846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661300" y="5324934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P(y)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8356244" y="5324934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wetted perimeter — wall only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955883" y="5324934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61300" y="5648022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R(y)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8356244" y="5648022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radius,  A / P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955883" y="5648022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61300" y="5971110"/>
            <a:ext cx="676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Q_req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8356244" y="5971110"/>
            <a:ext cx="2581351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that must be carried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955883" y="5971110"/>
            <a:ext cx="5486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16C214-2BD8-0934-3B8C-089346D9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19" y="991517"/>
            <a:ext cx="3567541" cy="2961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63159" y="2514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Bisection Method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3504" y="1609344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813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the root:  f(yₗ) &lt; 0,  f(yᵤ) &gt; 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3504" y="2121408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99339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  yₘ  =  ( yₗ + yᵤ ) / 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3504" y="2633472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50545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 f(yₘ)  =  Q(yₘ) − Q_req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3504" y="3145536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0175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half that still brackets the root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03504" y="3657600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52958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relative error ≤ tolerance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6717010" cy="101498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7" y="5124391"/>
            <a:ext cx="6297197" cy="55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yₗ , yᵤ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lower and upper bracket depths (m)        </a:t>
            </a: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yₘ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midpoint depth (m)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5" y="5367528"/>
            <a:ext cx="6297197" cy="55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f(y)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Q(y) − Q_req, the residual (m³/s)        </a:t>
            </a: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eₐ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approximate relative error (%)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39712" y="1188720"/>
            <a:ext cx="4785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TRACE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39712" y="1517904"/>
            <a:ext cx="4785055" cy="3108960"/>
          </a:xfrm>
          <a:prstGeom prst="roundRect">
            <a:avLst>
              <a:gd name="adj" fmla="val 1765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22592" y="16276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yₗ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522208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yᵤ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546336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yₘ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570464" y="1627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eₐ (%)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022592" y="19385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19385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522208" y="19385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0.7036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546336" y="19385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0.3518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570464" y="19385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022592" y="222199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2221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0.3518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522208" y="2221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0.7036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546336" y="2221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0.5277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0570464" y="2221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33.33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022592" y="25054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25054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0.3518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522208" y="25054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0.5277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9546336" y="25054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0.4398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10570464" y="25054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20.00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022592" y="27889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498080" y="27889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0.4398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522208" y="27889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0.5277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9546336" y="27889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0.4838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0570464" y="27889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9.09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7022592" y="30723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7498080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0.4838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8522208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0.5277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9546336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0.5057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10570464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4.35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7022592" y="33558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7498080" y="33558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0.5057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8522208" y="33558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0.5277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546336" y="33558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0.5167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0570464" y="33558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2.13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7022592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7498080" y="36393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0.5057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8522208" y="36393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0.5167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9546336" y="36393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0.5112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10570464" y="36393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7022592" y="392277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⋮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7498080" y="3922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2" name="Text 70"/>
          <p:cNvSpPr txBox="1"/>
          <p:nvPr/>
        </p:nvSpPr>
        <p:spPr>
          <a:xfrm>
            <a:off x="8522208" y="3922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9546336" y="3922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10570464" y="3922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949440" y="4187952"/>
            <a:ext cx="4565599" cy="292608"/>
          </a:xfrm>
          <a:prstGeom prst="rect">
            <a:avLst/>
          </a:prstGeom>
          <a:solidFill>
            <a:srgbClr val="1231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022592" y="42062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7498080" y="42062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8522208" y="42062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9546336" y="42062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0.5092</a:t>
            </a:r>
            <a:endParaRPr lang="en-US" sz="1150" dirty="0"/>
          </a:p>
        </p:txBody>
      </p:sp>
      <p:sp>
        <p:nvSpPr>
          <p:cNvPr id="80" name="Text 78"/>
          <p:cNvSpPr txBox="1"/>
          <p:nvPr/>
        </p:nvSpPr>
        <p:spPr>
          <a:xfrm>
            <a:off x="10570464" y="42062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0.000066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Depth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Q(y)  =  Q_req  =  0.6328 m³/s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  [ 0 ,  0.9382 × 0.75 ]  =  [ 0 , 0.7036 ] m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bisection iterations,  relative error  6.6 × 10⁻⁵ %</a:t>
            </a: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endParaRPr lang="en-US" sz="17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/ D  =  0.5092 / 0.75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0.5092 m        y/D  =  67.9 %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15584"/>
            <a:ext cx="5934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 after 21 halvings: 0.7036 / 2²¹ = 3.4 × 10⁻⁷ 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72494" y="4129571"/>
            <a:ext cx="4245559" cy="2161501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73662" y="4221011"/>
            <a:ext cx="3843223" cy="225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73662" y="4531907"/>
            <a:ext cx="676656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8268606" y="4531907"/>
            <a:ext cx="2581351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Depth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868245" y="4531907"/>
            <a:ext cx="548640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73662" y="4915955"/>
            <a:ext cx="676656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y/D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8268606" y="4915955"/>
            <a:ext cx="2581351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depth ratio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868245" y="4915955"/>
            <a:ext cx="548640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73662" y="5300003"/>
            <a:ext cx="676656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0.9382 D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8268606" y="5300003"/>
            <a:ext cx="2581351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maximum discharge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868245" y="5300003"/>
            <a:ext cx="548640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73662" y="5684051"/>
            <a:ext cx="676656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eₐ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8268606" y="5684051"/>
            <a:ext cx="2581351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relative error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868245" y="5684051"/>
            <a:ext cx="548640" cy="3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13F766B-CFCF-38F9-AC8A-8A6514354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19" y="791457"/>
            <a:ext cx="3799385" cy="31536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Area at the Normal Depth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252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6446520" cy="896112"/>
          </a:xfrm>
          <a:prstGeom prst="roundRect">
            <a:avLst>
              <a:gd name="adj" fmla="val 612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17904"/>
            <a:ext cx="6007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2 cos⁻¹(1 − 2y/D)      A = (D²/8)(θ − sin θ)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2491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6446520" cy="1444752"/>
          </a:xfrm>
          <a:prstGeom prst="roundRect">
            <a:avLst>
              <a:gd name="adj" fmla="val 3797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60076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=  2 cos⁻¹ ( 1 − 2×0.5092/0.75 )  =  3.8738 rad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(0.75²/8) × ( 3.8738 + 0.6628 )  =  0.3194 m²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0.75 × 3.8738 / 2  =  1.4527 m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0.3194 / 1.4527  =  0.2199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6446520" cy="1517904"/>
          </a:xfrm>
          <a:prstGeom prst="roundRect">
            <a:avLst>
              <a:gd name="adj" fmla="val 4819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64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5934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Area =  0.3194 m²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15584"/>
            <a:ext cx="5934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A/A_full = 72.3 % while y/D = 67.9 % — the pipe is fuller by area than by depth.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79208" y="3840480"/>
            <a:ext cx="4245559" cy="2450592"/>
          </a:xfrm>
          <a:prstGeom prst="roundRect">
            <a:avLst>
              <a:gd name="adj" fmla="val 2239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0376" y="3931920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80376" y="42428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242816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 of the wetted arc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874959" y="4242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46268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A_flow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626864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area at the normal depth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874959" y="4626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50109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010912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wetted perimeter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874959" y="50109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80376" y="53949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5394960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radius,  A / 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874959" y="5394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580376" y="57790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779008"/>
            <a:ext cx="2581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pipe diameter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874959" y="57790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7471808-99EB-A33C-1C51-8060AA5B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559113"/>
            <a:ext cx="3799385" cy="31536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329184"/>
            <a:ext cx="566928" cy="56692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29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2743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Velocity and Design Status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→  SUBSTITUTION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6446520" cy="1463040"/>
          </a:xfrm>
          <a:prstGeom prst="roundRect">
            <a:avLst>
              <a:gd name="adj" fmla="val 3750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59105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Q / Flow Area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12848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0.6328 / 0.3194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446520" cy="1115568"/>
          </a:xfrm>
          <a:prstGeom prst="roundRect">
            <a:avLst>
              <a:gd name="adj" fmla="val 6557"/>
            </a:avLst>
          </a:prstGeom>
          <a:solidFill>
            <a:srgbClr val="12313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127248"/>
            <a:ext cx="5934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1.9814 m/s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2569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WINDOW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718304"/>
            <a:ext cx="6446520" cy="932688"/>
          </a:xfrm>
          <a:prstGeom prst="roundRect">
            <a:avLst>
              <a:gd name="adj" fmla="val 5882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718304"/>
            <a:ext cx="5989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 ≤  1.9814  ≤  3.0 m/s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66928" y="5779008"/>
            <a:ext cx="6446520" cy="512064"/>
          </a:xfrm>
          <a:prstGeom prst="roundRect">
            <a:avLst>
              <a:gd name="adj" fmla="val 10714"/>
            </a:avLst>
          </a:prstGeom>
          <a:solidFill>
            <a:srgbClr val="12332A"/>
          </a:solidFill>
          <a:ln w="22225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5779008"/>
            <a:ext cx="6446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  —  DESIGN PASSES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83196" y="3127248"/>
            <a:ext cx="4245559" cy="1572768"/>
          </a:xfrm>
          <a:prstGeom prst="roundRect">
            <a:avLst>
              <a:gd name="adj" fmla="val 348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0376" y="3236976"/>
            <a:ext cx="3843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80376" y="3547872"/>
            <a:ext cx="67665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547872"/>
            <a:ext cx="2581351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velocity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874959" y="3547872"/>
            <a:ext cx="54864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901440"/>
            <a:ext cx="67665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901440"/>
            <a:ext cx="2581351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carried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874959" y="3901440"/>
            <a:ext cx="54864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4255008"/>
            <a:ext cx="67665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</a:rPr>
              <a:t>F.A.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255008"/>
            <a:ext cx="2581351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area at the normal depth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874959" y="4255008"/>
            <a:ext cx="54864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79208" y="5062516"/>
            <a:ext cx="4245559" cy="1012361"/>
          </a:xfrm>
          <a:prstGeom prst="roundRect">
            <a:avLst>
              <a:gd name="adj" fmla="val 7226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32" name="Image 0" descr="crops/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5190532"/>
            <a:ext cx="3989527" cy="445433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507224" y="5727404"/>
            <a:ext cx="3989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status line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73307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1 — Hyetograph &amp; Runoff Response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766560" cy="4901184"/>
          </a:xfrm>
          <a:prstGeom prst="roundRect">
            <a:avLst>
              <a:gd name="adj" fmla="val 149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hy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56726"/>
            <a:ext cx="6510528" cy="30200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" y="5925312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—  hyetograph and hydrograph, design-passes case</a:t>
            </a:r>
            <a:endParaRPr lang="en-US" b="1" dirty="0"/>
          </a:p>
        </p:txBody>
      </p:sp>
      <p:sp>
        <p:nvSpPr>
          <p:cNvPr id="7" name="Shape 4"/>
          <p:cNvSpPr/>
          <p:nvPr/>
        </p:nvSpPr>
        <p:spPr>
          <a:xfrm>
            <a:off x="7589520" y="1856232"/>
            <a:ext cx="404164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2020824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28432" y="1892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curve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8028432" y="2185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  i(t)  —  mm/hr, left axis</a:t>
            </a:r>
            <a:endParaRPr lang="en-US" sz="1400" b="1" dirty="0"/>
          </a:p>
        </p:txBody>
      </p:sp>
      <p:sp>
        <p:nvSpPr>
          <p:cNvPr id="11" name="Shape 8"/>
          <p:cNvSpPr/>
          <p:nvPr/>
        </p:nvSpPr>
        <p:spPr>
          <a:xfrm>
            <a:off x="7589520" y="2642616"/>
            <a:ext cx="404164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807208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28432" y="2679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curve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8028432" y="29718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Method runoff  Q(t)  —  m³/s, right axis</a:t>
            </a:r>
            <a:endParaRPr lang="en-US" sz="1400" b="1" dirty="0"/>
          </a:p>
        </p:txBody>
      </p:sp>
      <p:sp>
        <p:nvSpPr>
          <p:cNvPr id="15" name="Shape 12"/>
          <p:cNvSpPr/>
          <p:nvPr/>
        </p:nvSpPr>
        <p:spPr>
          <a:xfrm>
            <a:off x="7589520" y="3429000"/>
            <a:ext cx="404164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3593592"/>
            <a:ext cx="146304" cy="146304"/>
          </a:xfrm>
          <a:prstGeom prst="ellipse">
            <a:avLst/>
          </a:prstGeom>
          <a:solidFill>
            <a:srgbClr val="EF5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28432" y="34655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red line</a:t>
            </a:r>
            <a:endParaRPr lang="en-US" dirty="0"/>
          </a:p>
        </p:txBody>
      </p:sp>
      <p:sp>
        <p:nvSpPr>
          <p:cNvPr id="18" name="Text 15"/>
          <p:cNvSpPr txBox="1"/>
          <p:nvPr/>
        </p:nvSpPr>
        <p:spPr>
          <a:xfrm>
            <a:off x="8028432" y="3758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Full-pipe capacity  Q_full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7589520" y="4215384"/>
            <a:ext cx="404164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4379976"/>
            <a:ext cx="146304" cy="146304"/>
          </a:xfrm>
          <a:prstGeom prst="ellipse">
            <a:avLst/>
          </a:prstGeom>
          <a:solidFill>
            <a:srgbClr val="9FB3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28432" y="42519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vertical line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8028432" y="45445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simulation time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7589520" y="5001768"/>
            <a:ext cx="404164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5166360"/>
            <a:ext cx="146304" cy="146304"/>
          </a:xfrm>
          <a:prstGeom prst="ellipse">
            <a:avLst/>
          </a:prstGeom>
          <a:solidFill>
            <a:srgbClr val="7A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28432" y="50383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area</a:t>
            </a:r>
            <a:endParaRPr lang="en-US" dirty="0"/>
          </a:p>
        </p:txBody>
      </p:sp>
      <p:sp>
        <p:nvSpPr>
          <p:cNvPr id="26" name="Text 23"/>
          <p:cNvSpPr txBox="1"/>
          <p:nvPr/>
        </p:nvSpPr>
        <p:spPr>
          <a:xfrm>
            <a:off x="8028432" y="5330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i(t) = rainfall depth</a:t>
            </a:r>
            <a:endParaRPr lang="en-US" sz="14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2 — Capacity vs Peak Demand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309360" cy="4901184"/>
          </a:xfrm>
          <a:prstGeom prst="roundRect">
            <a:avLst>
              <a:gd name="adj" fmla="val 149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42186"/>
            <a:ext cx="6053328" cy="40491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" y="5925312"/>
            <a:ext cx="6053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—  capacity vs peak demand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32320" y="1371600"/>
            <a:ext cx="4492447" cy="1371600"/>
          </a:xfrm>
          <a:prstGeom prst="roundRect">
            <a:avLst>
              <a:gd name="adj" fmla="val 4000"/>
            </a:avLst>
          </a:prstGeom>
          <a:solidFill>
            <a:srgbClr val="13293F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70064" y="1481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70064" y="179222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0.6328 m³/s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7132320" y="2926080"/>
            <a:ext cx="4492447" cy="1371600"/>
          </a:xfrm>
          <a:prstGeom prst="roundRect">
            <a:avLst>
              <a:gd name="adj" fmla="val 4000"/>
            </a:avLst>
          </a:prstGeom>
          <a:solidFill>
            <a:srgbClr val="13293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4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CAPACITY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70064" y="334670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0.7872 m³/s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7132320" y="4480560"/>
            <a:ext cx="4492447" cy="1792224"/>
          </a:xfrm>
          <a:prstGeom prst="roundRect">
            <a:avLst>
              <a:gd name="adj" fmla="val 4082"/>
            </a:avLst>
          </a:prstGeom>
          <a:solidFill>
            <a:srgbClr val="12332A"/>
          </a:solidFill>
          <a:ln w="25400">
            <a:solidFill>
              <a:srgbClr val="3DDC9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70064" y="4608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 &gt;  Required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370064" y="4992624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1.244</a:t>
            </a:r>
            <a:endParaRPr lang="en-US" sz="4600" dirty="0"/>
          </a:p>
        </p:txBody>
      </p:sp>
      <p:sp>
        <p:nvSpPr>
          <p:cNvPr id="16" name="Text 13"/>
          <p:cNvSpPr txBox="1"/>
          <p:nvPr/>
        </p:nvSpPr>
        <p:spPr>
          <a:xfrm>
            <a:off x="7370064" y="5742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/ demand ratio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Pipe Response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035040" cy="4901184"/>
          </a:xfrm>
          <a:prstGeom prst="roundRect">
            <a:avLst>
              <a:gd name="adj" fmla="val 1493"/>
            </a:avLst>
          </a:prstGeom>
          <a:solidFill>
            <a:srgbClr val="13293F"/>
          </a:solidFill>
          <a:ln w="13970">
            <a:solidFill>
              <a:srgbClr val="2C5470"/>
            </a:solidFill>
            <a:prstDash val="solid"/>
          </a:ln>
        </p:spPr>
      </p:sp>
      <p:pic>
        <p:nvPicPr>
          <p:cNvPr id="5" name="Image 0" descr="crops/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04" y="1499616"/>
            <a:ext cx="4962889" cy="43342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" y="592531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—  pipe drawn at the instantaneous depth, late in the storm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137160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12864" y="137160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  i(t)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241384" y="1993392"/>
            <a:ext cx="0" cy="18288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858000" y="219456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12864" y="219456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Q(t)  =  C · i(t) · A / 360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241384" y="2816352"/>
            <a:ext cx="0" cy="18288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0" y="301752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12864" y="301752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Manning:  Q(y) − Q(t) = 0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241384" y="3639312"/>
            <a:ext cx="0" cy="18288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58000" y="384048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B3A5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12864" y="384048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every frame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241384" y="4462272"/>
            <a:ext cx="0" cy="18288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858000" y="466344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12864" y="466344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  y(t)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241384" y="5285232"/>
            <a:ext cx="0" cy="18288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858000" y="5486400"/>
            <a:ext cx="4766767" cy="603504"/>
          </a:xfrm>
          <a:prstGeom prst="roundRect">
            <a:avLst>
              <a:gd name="adj" fmla="val 9091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12864" y="5486400"/>
            <a:ext cx="46570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drawn to scale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— MATLAB vs Hand Calculation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sample input set, computed independently by hand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499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2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98848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12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CALCULATION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30568" y="1499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12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62288" y="1499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12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ERROR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1938528"/>
            <a:ext cx="11057839" cy="512064"/>
          </a:xfrm>
          <a:prstGeom prst="rect">
            <a:avLst/>
          </a:prstGeom>
          <a:solidFill>
            <a:srgbClr val="132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9568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concentration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95681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20.659 min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30568" y="195681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20.659 min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62288" y="19568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4871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4871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175.24 mm/hr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30568" y="24871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175.24 mm/hr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62288" y="2487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999232"/>
            <a:ext cx="11057839" cy="512064"/>
          </a:xfrm>
          <a:prstGeom prst="rect">
            <a:avLst/>
          </a:prstGeom>
          <a:solidFill>
            <a:srgbClr val="132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017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discharge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0175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0.63281 m³/s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0175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0.63281 m³/s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3017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547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Full-pipe capacity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35478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0.78721 m³/s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35478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0.78721 m³/s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35478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66928" y="4059936"/>
            <a:ext cx="11057839" cy="512064"/>
          </a:xfrm>
          <a:prstGeom prst="rect">
            <a:avLst/>
          </a:prstGeom>
          <a:solidFill>
            <a:srgbClr val="132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0782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Full-pipe velocity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498848" y="40782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1.7819 m/s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830568" y="40782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1.7819 m/s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62288" y="4078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60857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4498848" y="460857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0.50924 m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460857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0.50924 m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62288" y="4608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66928" y="5120640"/>
            <a:ext cx="11057839" cy="512064"/>
          </a:xfrm>
          <a:prstGeom prst="rect">
            <a:avLst/>
          </a:prstGeom>
          <a:solidFill>
            <a:srgbClr val="132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1248" y="51389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velocity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498848" y="51389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1.9814 m/s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830568" y="51389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1.9814 m/s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9162288" y="51389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0.00 %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206 Topics Applied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81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fundamentals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86537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operations, logical masking, input validation, structured program layout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99632" y="1371600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481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186537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calculation isolated in its own testable function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2596896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706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of equations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09067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applied to Q(y) − Q_req = 0; bracketing, convergence, tolerance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9632" y="2596896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706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fitting &amp; interpolation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09067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Log–log interpolation in duration; linear interpolation in the reduced variate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931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15968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rule and Simpson's 1/3 rule for runoff volume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99632" y="3822192"/>
            <a:ext cx="5413248" cy="1060704"/>
          </a:xfrm>
          <a:prstGeom prst="roundRect">
            <a:avLst>
              <a:gd name="adj" fmla="val 5172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3931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&amp; visualisation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315968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live plots, bar comparison, animated patch graphics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1133856"/>
          </a:xfrm>
          <a:prstGeom prst="roundRect">
            <a:avLst>
              <a:gd name="adj" fmla="val 4839"/>
            </a:avLst>
          </a:prstGeom>
          <a:solidFill>
            <a:srgbClr val="1B3A56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303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this project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5955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 ·  Fourier analysis  ·  Ordinary differential equations  ·  Numerical differentiation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907024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claim only the topics the program genuinely uses.</a:t>
            </a:r>
            <a:endParaRPr 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We Resolved Them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3716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6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327648" y="13716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6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RESOLVED IT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3328" y="177393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77393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equation cannot be rearranged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72784" y="177393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Recast as a root problem and solved with bisection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33872" y="211226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" y="255117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255117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55117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Q(y) is not monotonic — two roots possible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55117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capped at y = 0.9382 D, where Q(y) is strictly increasing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33872" y="288950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332841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332841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32841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Circular-segment geometry repeated everywhere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32841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 one pipe_geometry function returning A, P, R, θ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833872" y="366674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410565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410565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10565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too slow for a live animation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72784" y="410565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tolerance for the 20 fps loop, tight tolerance for the printed report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833872" y="444398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488289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488289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" y="488289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table too coarse for tᴄ = 20.66 min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272784" y="488289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Log–log interpolation in duration, reduced-variate interpolation in return period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833872" y="522122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" y="566013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5660136"/>
            <a:ext cx="5230368" cy="676656"/>
          </a:xfrm>
          <a:prstGeom prst="roundRect">
            <a:avLst>
              <a:gd name="adj" fmla="val 8108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566013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results are right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5660136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Back-substitution residual plus an independent grid search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833872" y="5998464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82496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481328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rainfall–runoff lag or routing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865376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Method applied instantaneously; hydrograph timing not modelled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682496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1696" y="1481328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storm is a visualisation shape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11696" y="1865376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 Method's implicit design storm is uniform, not triangular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889504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8992" y="268833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storm volume is not IDF-consistent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07238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peak = IDF intensity, so its average is half. Peak discharge is unaffected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9632" y="257860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2889504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11696" y="268833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Kirpich is a rural formula, used uncorrected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307238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paved catchments normally take a correction factor of about 0.4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37856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096512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3895344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 coefficient C is a judgement value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27939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is linear in C; a ±0.1 swing moves the design flow by ±15 %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9632" y="37856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096512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3895344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Khulna IDF table only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427939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durations were disaggregated from daily records, not gauged directly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303520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992" y="5102352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pipe, no network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548640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manholes, junctions, backwater or surcharge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9632" y="4992624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13293F"/>
          </a:solidFill>
          <a:ln w="12700">
            <a:solidFill>
              <a:srgbClr val="2C54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303520"/>
            <a:ext cx="146304" cy="14630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11696" y="5102352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infiltration or catchment storage model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711696" y="548640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are lumped entirely into the constant C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29107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precision (10⁻⁷) far exceeds input accuracy (10⁻¹). Precision is not the same thing as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18795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roadmap beyond this course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65682" y="1731264"/>
            <a:ext cx="7624877" cy="3785616"/>
          </a:xfrm>
          <a:prstGeom prst="roundRect">
            <a:avLst>
              <a:gd name="adj" fmla="val 1546"/>
            </a:avLst>
          </a:prstGeom>
          <a:solidFill>
            <a:srgbClr val="13293F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2552700"/>
            <a:ext cx="275124" cy="13474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89888" y="2388107"/>
            <a:ext cx="5816916" cy="88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multi-pipe networks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1097280" y="3521964"/>
            <a:ext cx="275124" cy="13474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89888" y="3357371"/>
            <a:ext cx="5816916" cy="88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manholes, junctions, surcharge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1097280" y="4491228"/>
            <a:ext cx="275124" cy="13474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389888" y="4326635"/>
            <a:ext cx="5816916" cy="88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and drawing export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0896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Learning Outcomes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486400" cy="4937760"/>
          </a:xfrm>
          <a:prstGeom prst="roundRect">
            <a:avLst>
              <a:gd name="adj" fmla="val 1111"/>
            </a:avLst>
          </a:prstGeom>
          <a:solidFill>
            <a:srgbClr val="13293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44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6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DESIGN SUMMARY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concentration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767328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20.66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58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258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175.24 mm/hr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discharge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0.6328 m³/s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181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capacity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0.7872 m³/s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47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depth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547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0.5092 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ratio  y/D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67.9 %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07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velocity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1.9814 m/s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37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diameter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4837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 m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" y="5340096"/>
            <a:ext cx="4974336" cy="694944"/>
          </a:xfrm>
          <a:prstGeom prst="roundRect">
            <a:avLst>
              <a:gd name="adj" fmla="val 7895"/>
            </a:avLst>
          </a:prstGeom>
          <a:solidFill>
            <a:srgbClr val="12332A"/>
          </a:solidFill>
          <a:ln w="22225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340096"/>
            <a:ext cx="4974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  —   DESIGN PASSES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133502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400800" y="2029968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184708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governing engineering equations into structured, testable MATLAB code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00800" y="2779776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11696" y="25968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when a problem needs a numerical method — and being able to justify it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00800" y="3529584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11696" y="3346704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robustness over speed: bisection's guaranteed convergence beats Newton's rate here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0" y="4279392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11696" y="4096512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pipe carries more flow when it is not quite full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0" y="5029200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11696" y="484632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computational output against hand calculation and an independent method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400800" y="5779008"/>
            <a:ext cx="146304" cy="14630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11696" y="55961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precision from engineering accuracy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52244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66927" y="3393499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611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DrainFlow  ·  Storm Sewer Design Assistant  ·  CE 206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4265</Words>
  <Application>Microsoft Office PowerPoint</Application>
  <PresentationFormat>Widescreen</PresentationFormat>
  <Paragraphs>860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DrainFlow - Storm Sewer Design Assistant</dc:title>
  <dc:subject>PptxGenJS Presentation</dc:subject>
  <dc:creator>CE 206 Group Project</dc:creator>
  <cp:lastModifiedBy>Amartya Halder</cp:lastModifiedBy>
  <cp:revision>6</cp:revision>
  <dcterms:created xsi:type="dcterms:W3CDTF">2026-09-15T16:22:06Z</dcterms:created>
  <dcterms:modified xsi:type="dcterms:W3CDTF">2026-09-15T19:35:04Z</dcterms:modified>
</cp:coreProperties>
</file>